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ff4eceacd4c9e" /><Relationship Type="http://schemas.openxmlformats.org/officeDocument/2006/relationships/extended-properties" Target="/docProps/app.xml" Id="R48cd5e62ef7840d8" /><Relationship Type="http://schemas.openxmlformats.org/officeDocument/2006/relationships/officeDocument" Target="/ppt/presentation.xml" Id="R6e80ea75a348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3ecbc5ea3048ee"/>
  </p:sldMasterIdLst>
  <p:notesMasterIdLst>
    <p:notesMasterId xmlns:r="http://schemas.openxmlformats.org/officeDocument/2006/relationships" r:id="Rc8973499902044a2"/>
  </p:notesMasterIdLst>
  <p:sldIdLst>
    <p:sldId xmlns:r="http://schemas.openxmlformats.org/officeDocument/2006/relationships" id="256" r:id="R07b728fb214f4518"/>
    <p:sldId xmlns:r="http://schemas.openxmlformats.org/officeDocument/2006/relationships" id="257" r:id="R7839706a5e694ac5"/>
    <p:sldId xmlns:r="http://schemas.openxmlformats.org/officeDocument/2006/relationships" id="258" r:id="R3f45e91d25144f41"/>
    <p:sldId xmlns:r="http://schemas.openxmlformats.org/officeDocument/2006/relationships" id="259" r:id="R366ddb284a58446b"/>
    <p:sldId xmlns:r="http://schemas.openxmlformats.org/officeDocument/2006/relationships" id="260" r:id="R651ccdb5815643e6"/>
    <p:sldId xmlns:r="http://schemas.openxmlformats.org/officeDocument/2006/relationships" id="261" r:id="R4dbd0815b64b4280"/>
    <p:sldId xmlns:r="http://schemas.openxmlformats.org/officeDocument/2006/relationships" id="262" r:id="Rf660c71983ed4185"/>
    <p:sldId xmlns:r="http://schemas.openxmlformats.org/officeDocument/2006/relationships" id="263" r:id="R598d1b4960464376"/>
    <p:sldId xmlns:r="http://schemas.openxmlformats.org/officeDocument/2006/relationships" id="264" r:id="R190c7a2565bf492b"/>
    <p:sldId xmlns:r="http://schemas.openxmlformats.org/officeDocument/2006/relationships" id="265" r:id="R10bbcc6698fe47db"/>
    <p:sldId xmlns:r="http://schemas.openxmlformats.org/officeDocument/2006/relationships" id="266" r:id="R7b7a1de009024a4b"/>
    <p:sldId xmlns:r="http://schemas.openxmlformats.org/officeDocument/2006/relationships" id="267" r:id="Rcf2048eabff14016"/>
    <p:sldId xmlns:r="http://schemas.openxmlformats.org/officeDocument/2006/relationships" id="268" r:id="Ra55cab4f702c4a01"/>
    <p:sldId xmlns:r="http://schemas.openxmlformats.org/officeDocument/2006/relationships" id="269" r:id="Rbfc75641144f4c11"/>
    <p:sldId xmlns:r="http://schemas.openxmlformats.org/officeDocument/2006/relationships" id="270" r:id="Rb02465db1bbe4a71"/>
    <p:sldId xmlns:r="http://schemas.openxmlformats.org/officeDocument/2006/relationships" id="271" r:id="R643c23ffedb6457c"/>
    <p:sldId xmlns:r="http://schemas.openxmlformats.org/officeDocument/2006/relationships" id="272" r:id="R4796cca071ff4e35"/>
    <p:sldId xmlns:r="http://schemas.openxmlformats.org/officeDocument/2006/relationships" id="273" r:id="Rdd18eea8618c431a"/>
    <p:sldId xmlns:r="http://schemas.openxmlformats.org/officeDocument/2006/relationships" id="274" r:id="R72d80f6f9fcd405f"/>
    <p:sldId xmlns:r="http://schemas.openxmlformats.org/officeDocument/2006/relationships" id="275" r:id="R04137077e0264630"/>
    <p:sldId xmlns:r="http://schemas.openxmlformats.org/officeDocument/2006/relationships" id="276" r:id="R70ad45704db441d5"/>
    <p:sldId xmlns:r="http://schemas.openxmlformats.org/officeDocument/2006/relationships" id="277" r:id="R4cd2a82b81df427c"/>
    <p:sldId xmlns:r="http://schemas.openxmlformats.org/officeDocument/2006/relationships" id="278" r:id="Rcace3da6ca55435e"/>
    <p:sldId xmlns:r="http://schemas.openxmlformats.org/officeDocument/2006/relationships" id="279" r:id="Rd0f11f6b822b4749"/>
    <p:sldId xmlns:r="http://schemas.openxmlformats.org/officeDocument/2006/relationships" id="280" r:id="R1433aaf8e5654a78"/>
    <p:sldId xmlns:r="http://schemas.openxmlformats.org/officeDocument/2006/relationships" id="281" r:id="R9d00b2599ae842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9ba5d56efc4301" /><Relationship Type="http://schemas.openxmlformats.org/officeDocument/2006/relationships/slideMaster" Target="/ppt/slideMasters/slideMaster1.xml" Id="Rac3ecbc5ea3048ee" /><Relationship Type="http://schemas.openxmlformats.org/officeDocument/2006/relationships/notesMaster" Target="/ppt/notesMasters/notesMaster1.xml" Id="Rc8973499902044a2" /><Relationship Type="http://schemas.openxmlformats.org/officeDocument/2006/relationships/presProps" Target="/ppt/presProps.xml" Id="R43a53b89d5a34e61" /><Relationship Type="http://schemas.openxmlformats.org/officeDocument/2006/relationships/tableStyles" Target="/ppt/tableStyles.xml" Id="R12f5903fe9584d0c" /><Relationship Type="http://schemas.openxmlformats.org/officeDocument/2006/relationships/slide" Target="/ppt/slides/slide1.xml" Id="R07b728fb214f4518" /><Relationship Type="http://schemas.openxmlformats.org/officeDocument/2006/relationships/slide" Target="/ppt/slides/slide2.xml" Id="R7839706a5e694ac5" /><Relationship Type="http://schemas.openxmlformats.org/officeDocument/2006/relationships/slide" Target="/ppt/slides/slide3.xml" Id="R3f45e91d25144f41" /><Relationship Type="http://schemas.openxmlformats.org/officeDocument/2006/relationships/slide" Target="/ppt/slides/slide4.xml" Id="R366ddb284a58446b" /><Relationship Type="http://schemas.openxmlformats.org/officeDocument/2006/relationships/slide" Target="/ppt/slides/slide5.xml" Id="R651ccdb5815643e6" /><Relationship Type="http://schemas.openxmlformats.org/officeDocument/2006/relationships/slide" Target="/ppt/slides/slide6.xml" Id="R4dbd0815b64b4280" /><Relationship Type="http://schemas.openxmlformats.org/officeDocument/2006/relationships/slide" Target="/ppt/slides/slide7.xml" Id="Rf660c71983ed4185" /><Relationship Type="http://schemas.openxmlformats.org/officeDocument/2006/relationships/slide" Target="/ppt/slides/slide8.xml" Id="R598d1b4960464376" /><Relationship Type="http://schemas.openxmlformats.org/officeDocument/2006/relationships/slide" Target="/ppt/slides/slide9.xml" Id="R190c7a2565bf492b" /><Relationship Type="http://schemas.openxmlformats.org/officeDocument/2006/relationships/slide" Target="/ppt/slides/slide10.xml" Id="R10bbcc6698fe47db" /><Relationship Type="http://schemas.openxmlformats.org/officeDocument/2006/relationships/slide" Target="/ppt/slides/slide11.xml" Id="R7b7a1de009024a4b" /><Relationship Type="http://schemas.openxmlformats.org/officeDocument/2006/relationships/slide" Target="/ppt/slides/slide12.xml" Id="Rcf2048eabff14016" /><Relationship Type="http://schemas.openxmlformats.org/officeDocument/2006/relationships/slide" Target="/ppt/slides/slide13.xml" Id="Ra55cab4f702c4a01" /><Relationship Type="http://schemas.openxmlformats.org/officeDocument/2006/relationships/slide" Target="/ppt/slides/slide14.xml" Id="Rbfc75641144f4c11" /><Relationship Type="http://schemas.openxmlformats.org/officeDocument/2006/relationships/slide" Target="/ppt/slides/slide15.xml" Id="Rb02465db1bbe4a71" /><Relationship Type="http://schemas.openxmlformats.org/officeDocument/2006/relationships/slide" Target="/ppt/slides/slide16.xml" Id="R643c23ffedb6457c" /><Relationship Type="http://schemas.openxmlformats.org/officeDocument/2006/relationships/slide" Target="/ppt/slides/slide17.xml" Id="R4796cca071ff4e35" /><Relationship Type="http://schemas.openxmlformats.org/officeDocument/2006/relationships/slide" Target="/ppt/slides/slide18.xml" Id="Rdd18eea8618c431a" /><Relationship Type="http://schemas.openxmlformats.org/officeDocument/2006/relationships/slide" Target="/ppt/slides/slide19.xml" Id="R72d80f6f9fcd405f" /><Relationship Type="http://schemas.openxmlformats.org/officeDocument/2006/relationships/slide" Target="/ppt/slides/slide20.xml" Id="R04137077e0264630" /><Relationship Type="http://schemas.openxmlformats.org/officeDocument/2006/relationships/slide" Target="/ppt/slides/slide21.xml" Id="R70ad45704db441d5" /><Relationship Type="http://schemas.openxmlformats.org/officeDocument/2006/relationships/slide" Target="/ppt/slides/slide22.xml" Id="R4cd2a82b81df427c" /><Relationship Type="http://schemas.openxmlformats.org/officeDocument/2006/relationships/slide" Target="/ppt/slides/slide23.xml" Id="Rcace3da6ca55435e" /><Relationship Type="http://schemas.openxmlformats.org/officeDocument/2006/relationships/slide" Target="/ppt/slides/slide24.xml" Id="Rd0f11f6b822b4749" /><Relationship Type="http://schemas.openxmlformats.org/officeDocument/2006/relationships/slide" Target="/ppt/slides/slide25.xml" Id="R1433aaf8e5654a78" /><Relationship Type="http://schemas.openxmlformats.org/officeDocument/2006/relationships/slide" Target="/ppt/slides/slide26.xml" Id="R9d00b2599ae842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f9fcce73f94a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b8236c18e44453" /><Relationship Type="http://schemas.openxmlformats.org/officeDocument/2006/relationships/notesMaster" Target="/ppt/notesMasters/notesMaster1.xml" Id="Rf493b61089c54a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2231ee8d1941f2" /><Relationship Type="http://schemas.openxmlformats.org/officeDocument/2006/relationships/notesMaster" Target="/ppt/notesMasters/notesMaster1.xml" Id="Rb32adb828682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12419b848b445c" /><Relationship Type="http://schemas.openxmlformats.org/officeDocument/2006/relationships/notesMaster" Target="/ppt/notesMasters/notesMaster1.xml" Id="R1c0eb2982a5f4b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75440bf8334a61" /><Relationship Type="http://schemas.openxmlformats.org/officeDocument/2006/relationships/notesMaster" Target="/ppt/notesMasters/notesMaster1.xml" Id="Rc7c1f8ae943b4e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67f7c313714ce9" /><Relationship Type="http://schemas.openxmlformats.org/officeDocument/2006/relationships/notesMaster" Target="/ppt/notesMasters/notesMaster1.xml" Id="R581bde5f2e9048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35b9689a34c90" /><Relationship Type="http://schemas.openxmlformats.org/officeDocument/2006/relationships/notesMaster" Target="/ppt/notesMasters/notesMaster1.xml" Id="Rfa89338275c441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062e99357c49a2" /><Relationship Type="http://schemas.openxmlformats.org/officeDocument/2006/relationships/notesMaster" Target="/ppt/notesMasters/notesMaster1.xml" Id="Rdae8a3b661d047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67ce70aadb4b6d" /><Relationship Type="http://schemas.openxmlformats.org/officeDocument/2006/relationships/notesMaster" Target="/ppt/notesMasters/notesMaster1.xml" Id="Rcec4849ea58e4a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d38fe58d0a4006" /><Relationship Type="http://schemas.openxmlformats.org/officeDocument/2006/relationships/notesMaster" Target="/ppt/notesMasters/notesMaster1.xml" Id="Rb0bfeae6569b40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38770d751449cd" /><Relationship Type="http://schemas.openxmlformats.org/officeDocument/2006/relationships/notesMaster" Target="/ppt/notesMasters/notesMaster1.xml" Id="Rf0dc3ac1f78d45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2fff4f62bf4e9c" /><Relationship Type="http://schemas.openxmlformats.org/officeDocument/2006/relationships/notesMaster" Target="/ppt/notesMasters/notesMaster1.xml" Id="R36be8315f42647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b8cd7b373f4ebd" /><Relationship Type="http://schemas.openxmlformats.org/officeDocument/2006/relationships/notesMaster" Target="/ppt/notesMasters/notesMaster1.xml" Id="R0d4baa3d9fc249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e9d81e47364958" /><Relationship Type="http://schemas.openxmlformats.org/officeDocument/2006/relationships/notesMaster" Target="/ppt/notesMasters/notesMaster1.xml" Id="R820bd191cb4c47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16681b3dfd4436" /><Relationship Type="http://schemas.openxmlformats.org/officeDocument/2006/relationships/notesMaster" Target="/ppt/notesMasters/notesMaster1.xml" Id="R26816f5fadcf4a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11e2afcf314fcd" /><Relationship Type="http://schemas.openxmlformats.org/officeDocument/2006/relationships/notesMaster" Target="/ppt/notesMasters/notesMaster1.xml" Id="R03dd23e3ea7b4b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a51e5febcd418f" /><Relationship Type="http://schemas.openxmlformats.org/officeDocument/2006/relationships/notesMaster" Target="/ppt/notesMasters/notesMaster1.xml" Id="R1005d80622f147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60a476a6ce4130" /><Relationship Type="http://schemas.openxmlformats.org/officeDocument/2006/relationships/notesMaster" Target="/ppt/notesMasters/notesMaster1.xml" Id="R364839de01e844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f25ea6115644cd" /><Relationship Type="http://schemas.openxmlformats.org/officeDocument/2006/relationships/notesMaster" Target="/ppt/notesMasters/notesMaster1.xml" Id="Rdd847ea2531841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e69f24c49a432a" /><Relationship Type="http://schemas.openxmlformats.org/officeDocument/2006/relationships/notesMaster" Target="/ppt/notesMasters/notesMaster1.xml" Id="R899d941007c14b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effffdf97443fa" /><Relationship Type="http://schemas.openxmlformats.org/officeDocument/2006/relationships/notesMaster" Target="/ppt/notesMasters/notesMaster1.xml" Id="Rd34f915719d140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b8e881644a4ca0" /><Relationship Type="http://schemas.openxmlformats.org/officeDocument/2006/relationships/notesMaster" Target="/ppt/notesMasters/notesMaster1.xml" Id="R246ca733e68049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4f023805b246b3" /><Relationship Type="http://schemas.openxmlformats.org/officeDocument/2006/relationships/notesMaster" Target="/ppt/notesMasters/notesMaster1.xml" Id="R82a02cac9d1642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54bec92e1554c6f" /><Relationship Type="http://schemas.openxmlformats.org/officeDocument/2006/relationships/notesMaster" Target="/ppt/notesMasters/notesMaster1.xml" Id="R3ebe1e72234f4a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816e795b4b4bf2" /><Relationship Type="http://schemas.openxmlformats.org/officeDocument/2006/relationships/notesMaster" Target="/ppt/notesMasters/notesMaster1.xml" Id="R6a01412da2e343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84c8146ab0415f" /><Relationship Type="http://schemas.openxmlformats.org/officeDocument/2006/relationships/notesMaster" Target="/ppt/notesMasters/notesMaster1.xml" Id="Rfe12fe191ae84c8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3a38f6176848fe" /><Relationship Type="http://schemas.openxmlformats.org/officeDocument/2006/relationships/notesMaster" Target="/ppt/notesMasters/notesMaster1.xml" Id="R329bc117b2e4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开场直接讲广告屏的故事：先让一台机器显示一句话，再面对换广告、自动换程序和公平分配播放机会的需求。今天用这个故事理解前三章的设计动机。全课 60 分钟，包含 4 分钟裸机演示和最后 5 分钟提问。插图是教学情境，不对应实际硬件型号。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广告屏情境由讲师提供，时间与广告内容均为教学设定。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用需求组织课程，不要求同学此刻记住寄存器。第一章回答如何运行程序，第二章回答如何自动运行下一项并通过特权机制管理应用，第三章回答如何暂停、恢复并分配 CPU。广告屏只是帮助理解机制的情境，实际演示使用串口文本。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https://learningos.cn/rCore-Tutorial-Guide/chapter1/4mini-rt-baremetal.html</a:t>
            </a:r>
          </a:p>
          <a:p xmlns:a="http://schemas.openxmlformats.org/drawingml/2006/main">
            <a:r>
              <a:t>https://learningos.cn/rCore-Tutorial-Guide/chapter2/3batch-system.html</a:t>
            </a:r>
          </a:p>
          <a:p xmlns:a="http://schemas.openxmlformats.org/drawingml/2006/main">
            <a:r>
              <a:t>https://learningos.cn/rCore-Tutorial-Guide/chapter3/4time-sharing-system.html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先把目标压到最小：这就是一个应用，暂时没有操作系统。屏幕用 QEMU 串口代替。只要程序放到约定的地址、有合法栈，并能调用固件的输出服务，就可以运行。下一页追踪是谁把控制权交给它。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https://github.com/LearningOS/2026a-rcore-Alayfolk64/blob/c32aabf6a6facdf3998b7799ac10818ff713e23a/src/main.rs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QEMU virt 提供虚拟硬件。复位引导代码将控制权交给位于 0x80000000 的 RustSBI。这里采用的固件在初始化后进入 S 态的 0x80200000，执行我们的 _start。强调：这个地址来自本次平台和固件约定，不是任意 RISC-V 机器的通用入口。当前应用直接运行在 S 态，尚无 U 态应用与 OS 的分层。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https://github.com/LearningOS/2026a-rcore-Alayfolk64/blob/c32aabf6a6facdf3998b7799ac10818ff713e23a/Makefile</a:t>
            </a:r>
          </a:p>
          <a:p xmlns:a="http://schemas.openxmlformats.org/drawingml/2006/main">
            <a:r>
              <a:t>https://github.com/LearningOS/2026a-rcore-Alayfolk64/blob/c32aabf6a6facdf3998b7799ac10818ff713e23a/bootloader/NOTICE</a:t>
            </a:r>
          </a:p>
          <a:p xmlns:a="http://schemas.openxmlformats.org/drawingml/2006/main">
            <a:r>
              <a:t>https://learningos.cn/rCore-Tutorial-Guide/chapter1/4mini-rt-baremetal.html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第一条命令编译并链接，生成 ELF，其中有代码、只读数据和描述文件的元信息。objcopy 将需要加载的内容转成裸二进制，--strip-all 去掉符号及调试信息，-O binary 选择裸二进制。页上的 app.elf 和 app.bin 是便于讲解的文件名，仓库实际路径由 APP_ELF 与 APP_BIN 指定。之后 QEMU loader 将 .bin 放到 0x80200000。不要把 ELF 头当作第一条指令。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https://github.com/LearningOS/2026a-rcore-Alayfolk64/blob/c32aabf6a6facdf3998b7799ac10818ff713e23a/Makefile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0x80200000 执行的第一段是汇编入口。la 将链接脚本中的 boot_stack_top 地址放入 sp，call 再调用 Rust 入口。Rust 函数可能保存寄存器、分配局部变量，所以栈必须先有效。RISC-V 常用栈向低地址增长，此处栈顶按 16 字节对齐。ENTRY(_start) 记录 ELF 入口，.text.entry 排在最前才保证裸二进制开头是入口代码。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https://github.com/LearningOS/2026a-rcore-Alayfolk64/blob/c32aabf6a6facdf3998b7799ac10818ff713e23a/src/entry.asm</a:t>
            </a:r>
          </a:p>
          <a:p xmlns:a="http://schemas.openxmlformats.org/drawingml/2006/main">
            <a:r>
              <a:t>https://github.com/LearningOS/2026a-rcore-Alayfolk64/blob/c32aabf6a6facdf3998b7799ac10818ff713e23a/src/linker.ld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按从低地址到高地址读表。代码在 .text，Hello 字符串在 .rodata，随后对齐并预留 16 KiB 栈。此演示没有需要清零的可写全局变量，因此没有加入 BSS 清零。NOLOAD 让栈只占运行时地址空间，不成为末尾文件内容。若学生问能否删除，回答可以运行，但当前链接器会增大裸二进制。不要把这种最小布局推广到有静态变量或更多库的程序。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https://github.com/LearningOS/2026a-rcore-Alayfolk64/blob/c32aabf6a6facdf3998b7799ac10818ff713e23a/src/linker.ld</a:t>
            </a:r>
          </a:p>
          <a:p xmlns:a="http://schemas.openxmlformats.org/drawingml/2006/main">
            <a:r>
              <a:t>https://lld.llvm.org/ELF/linker_script.html#output-section-type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展示最小输出路径：put_str 对字符串逐字节循环，console_putchar 将字符放入 a0，以 a7=1 发起 legacy SBI Console Putchar。ecall 从 S 态进入 M 态的 RustSBI，固件操作串口，再返回应用继续下一个字节。这里演示 ASCII Hello World。当前 bare-metal-hello 分支的旧固件对非 ASCII 有已知限制，因此不在这次演示里扩展中文输出。inline asm 同时声明寄存器输入输出约束；屏幕上的三行是寄存器含义的简写，不是完整 Rust 源码。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https://github.com/LearningOS/2026a-rcore-Alayfolk64/blob/c32aabf6a6facdf3998b7799ac10818ff713e23a/src/sbi.rs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本程序使用 SBI System Reset 扩展，不使用旧版编号 8 的关机接口。a7 的 0x53525354 是 SRST，a6=0 选择 system_reset，a0=0 表示 shutdown，a1=0 表示正常结束，a1=1 表示系统故障。成功关机不会返回。后面的无限循环只是防止接口失败返回后 Rust 的永不返回函数落空，主流程应直接让 QEMU 正常退出。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https://github.com/LearningOS/2026a-rcore-Alayfolk64/blob/c32aabf6a6facdf3998b7799ac10818ff713e23a/src/sbi.rs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bare-metal-hello 分支的仓库根目录执行 make run，观察固件信息、Hello World 和退出码。指向 src/main.rs、entry.asm、linker.ld、sbi.rs 四个文件即可，不逐行展开 Makefile。no_std 去除对标准库的依赖，no_main 由自定义入口接管启动，panic_handler 负责最小错误处理。当前 bare-metal 分支固件为 RustSBI 0.4.0-alpha.1，ch1 新模板固件为 0.4.1，两者均已在本机验证。分支切换会改变被跟踪的固件文件；演示前确认仓库状态。预期输出 Hello, world! 后正常退出。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https://github.com/LearningOS/2026a-rcore-Alayfolk64/blob/c32aabf6a6facdf3998b7799ac10818ff713e23a/src/main.rs</a:t>
            </a:r>
          </a:p>
          <a:p xmlns:a="http://schemas.openxmlformats.org/drawingml/2006/main">
            <a:r>
              <a:t>https://github.com/LearningOS/2026a-rcore-Alayfolk64/blob/c32aabf6a6facdf3998b7799ac10818ff713e23a/Makefile</a:t>
            </a:r>
          </a:p>
          <a:p xmlns:a="http://schemas.openxmlformats.org/drawingml/2006/main">
            <a:r>
              <a:t>https://github.com/LearningOS/2026a-rcore-Alayfolk64/blob/8f1dbd3ba6895dafb145d938d965ba7cac2ccc82/bootloader/rustsbi-qemu.toml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回到广告卡片。每次换广告，都带上同样的启动与设备访问代码，很容易想到把公共能力留在机器上。这是故事中的设计动机。严格对应源码，ch1 建立的是最小 S 态执行环境，业务与支持代码仍可一起链接，还没有完整的独立应用加载和系统调用隔离。RustSBI 始终是更底层的 M 态固件，不把新抽出的公共代码也叫作 RustSBI。应用与内核的明确分离接着由 ch2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https://github.com/LearningOS/2026a-rcore-Alayfolk64/blob/8f1dbd3ba6895dafb145d938d965ba7cac2ccc82/os/src/main.rs</a:t>
            </a:r>
          </a:p>
          <a:p xmlns:a="http://schemas.openxmlformats.org/drawingml/2006/main">
            <a:r>
              <a:t>https://github.com/LearningOS/2026a-rcore-Alayfolk64/blob/8f1dbd3ba6895dafb145d938d965ba7cac2ccc82/os/src/console.rs</a:t>
            </a:r>
          </a:p>
          <a:p xmlns:a="http://schemas.openxmlformats.org/drawingml/2006/main">
            <a:r>
              <a:t>https://learningos.cn/rCore-Tutorial-Guide/chapter1/4mini-rt-baremetal.html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讲师的设定：一个广告程序运行三小时，员工只在更换程序时忙十分钟，其他时间等下一次换卡。三小时和十分钟是业务故事的假设，不是系统性能数据。老板的要求很直接：把接下来要播的程序一次性交给机器，由机器接着运行。引出批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广告屏情境由讲师提供，时间与广告内容均为教学设定。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批程序镜像可以一开始就作为内核的数据带入机器。运行完当前应用，再选择并加载下一项，所以无需每三小时有人现场操作。此时的关键仍是先后顺序：前一个不结束，后一个就没有运行机会。把完成后的自动换程序与稍后会讲的暂停后恢复区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https://github.com/LearningOS/2026a-rcore-Alayfolk64/blob/cf94475a8afdcc3068a839bdfb0f0392491d4f5a/os/src/batch.rs</a:t>
            </a:r>
          </a:p>
          <a:p xmlns:a="http://schemas.openxmlformats.org/drawingml/2006/main">
            <a:r>
              <a:t>https://learningos.cn/rCore-Tutorial-Guide/chapter2/3batch-system.html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ch2 的程序镜像都能保存在内核中，但应用的运行位置只有一块。load_app 清空 APP_BASE_ADDRESS 开始的区域，把下一项复制进去，执行 fence.i，再构造新的应用上下文。run_next_app 更新索引并进入 U 态。表中 A、B、C 是三个不同时间的状态，不表示三个程序同时占同一地址。fence.i 保证后续取指能看到先前写入的新指令。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https://github.com/LearningOS/2026a-rcore-Alayfolk64/blob/cf94475a8afdcc3068a839bdfb0f0392491d4f5a/os/src/batch.rs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现在把广告程序放在 U 态，管理它们的内核放在 S 态，固件继续在 M 态。应用要使用服务就通过系统调用进入内核。遇到非法指令等异常，处理器也会进入预设的 Trap 入口。特权级能限制某些操作，但不能把这一步说成完整的地址空间隔离；本课程用页表建立每个应用的地址空间是 ch4 的内容。也不能说所有故障都会自动被处理，未支持的 Trap 仍可能令教学内核 panic。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https://github.com/LearningOS/2026a-rcore-Alayfolk64/blob/cf94475a8afdcc3068a839bdfb0f0392491d4f5a/os/src/trap/context.rs</a:t>
            </a:r>
          </a:p>
          <a:p xmlns:a="http://schemas.openxmlformats.org/drawingml/2006/main">
            <a:r>
              <a:t>https://github.com/LearningOS/2026a-rcore-Alayfolk64/blob/cf94475a8afdcc3068a839bdfb0f0392491d4f5a/os/src/trap/mod.rs</a:t>
            </a:r>
          </a:p>
          <a:p xmlns:a="http://schemas.openxmlformats.org/drawingml/2006/main">
            <a:r>
              <a:t>https://learningos.cn/rCore-Tutorial-Guide/chapter2/4trap-handling.html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先以 U 态应用请求写字符串为例。ecall 触发同步异常，硬件记录返回位置和原因，入口汇编再把通用寄存器保存到 TrapContext，并切换到内核所需的栈。trap_handler 识别 UserEnvCall，分派系统调用，返回值写回 a0。系统调用的 sepc 要加 4，跳过本次 ecall，随后恢复上下文并 sret 返回 U 态。定时器中断不应机械地把 sepc 加 4。此处区分 U 到 S 的系统调用与前面 S 到 M 的 SBI 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https://github.com/LearningOS/2026a-rcore-Alayfolk64/blob/cf94475a8afdcc3068a839bdfb0f0392491d4f5a/os/src/trap/mod.rs</a:t>
            </a:r>
          </a:p>
          <a:p xmlns:a="http://schemas.openxmlformats.org/drawingml/2006/main">
            <a:r>
              <a:t>https://github.com/LearningOS/2026a-rcore-Alayfolk64/blob/cf94475a8afdcc3068a839bdfb0f0392491d4f5a/os/src/trap/context.rs</a:t>
            </a:r>
          </a:p>
          <a:p xmlns:a="http://schemas.openxmlformats.org/drawingml/2006/main">
            <a:r>
              <a:t>https://learningos.cn/rCore-Tutorial-Guide/chapter2/4trap-handling.html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板解决了人工换卡，但客户有新的抱怨：前三个小时一直是同一条广告，后面的客户只能等，深夜时段也难卖。新的业务规则是每五分钟轮换一条，原来每位客户累计三小时的额度可以分散兑现。此时应用可能尚未完成，需要暂停后继续。先明确业务播放周期与 CPU 调度时间片是不同尺度；这里用广告轮播提出公平性和可恢复执行的需求。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广告屏情境由讲师提供，时间与广告内容均为教学设定。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若切回 A 时仍想保留进度，就不能每次都用 B 覆盖 A 的运行区域。ch3 在物理内存中给各应用划定不同区域并分别准备栈和上下文。当前代码 APP_BASE_ADDRESS 为 0x80400000，APP_SIZE_LIMIT 为 0x20000，因此前三个区域按表中地址排列。多道程序意味着多个程序驻留；在这堂课的单核模型中，同一时刻仍只有一个任务占用 CPU。此处仍没有 ch4 的每进程页表隔离。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https://github.com/LearningOS/2026a-rcore-Alayfolk64/blob/3b9f7dd039dfee39b4e92cd80e5a52dece2b6f39/os/src/loader.rs</a:t>
            </a:r>
          </a:p>
          <a:p xmlns:a="http://schemas.openxmlformats.org/drawingml/2006/main">
            <a:r>
              <a:t>https://github.com/LearningOS/2026a-rcore-Alayfolk64/blob/3b9f7dd039dfee39b4e92cd80e5a52dece2b6f39/os/src/config.rs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暂停需要把现场保存下来，恢复时再装回。要区分两份上下文。TrapContext 保存 U 态被打断时的通用寄存器、sstatus 与 sepc。TaskContext 保存内核中 __switch 调用所需的 ra、sp、s0 到 s11，遵循函数调用约定。__switch 保存当前任务再恢复下一个任务；后续通过恢复 TrapContext 回到该应用的用户态位置。切换不是每次都从 main 重启。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https://github.com/LearningOS/2026a-rcore-Alayfolk64/blob/3b9f7dd039dfee39b4e92cd80e5a52dece2b6f39/os/src/task/context.rs</a:t>
            </a:r>
          </a:p>
          <a:p xmlns:a="http://schemas.openxmlformats.org/drawingml/2006/main">
            <a:r>
              <a:t>https://github.com/LearningOS/2026a-rcore-Alayfolk64/blob/3b9f7dd039dfee39b4e92cd80e5a52dece2b6f39/os/src/task/switch.S</a:t>
            </a:r>
          </a:p>
          <a:p xmlns:a="http://schemas.openxmlformats.org/drawingml/2006/main">
            <a:r>
              <a:t>https://github.com/LearningOS/2026a-rcore-Alayfolk64/blob/3b9f7dd039dfee39b4e92cd80e5a52dece2b6f39/os/src/trap/context.rs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先从容易理解的协作式方案开始。应用发起 yield 系统调用，内核把当前任务从 Running 标为 Ready，再选择另一个 Ready 任务并切换。页上的函数来自当前 ch3 内核，实际应用通过用户库的系统调用封装进入这里。主动让出依赖应用配合，因此适合引出下一页的问题：如果应用永远不发起 yield，会怎样。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https://github.com/LearningOS/2026a-rcore-Alayfolk64/blob/3b9f7dd039dfee39b4e92cd80e5a52dece2b6f39/os/src/syscall/process.rs</a:t>
            </a:r>
          </a:p>
          <a:p xmlns:a="http://schemas.openxmlformats.org/drawingml/2006/main">
            <a:r>
              <a:t>https://github.com/LearningOS/2026a-rcore-Alayfolk64/blob/3b9f7dd039dfee39b4e92cd80e5a52dece2b6f39/os/src/task/mod.rs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停顿十秒，让同学回答。只有协作式机制时，一个永不 yield 的循环可以一直占着 CPU。内核需要一种不依赖该应用主动请求的进入机会，也就是时钟中断。这里不要把正常业务循环等同于非法指令：它可以完全合法，但不合作。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https://github.com/LearningOS/2026a-rcore-Alayfolk64/blob/3b9f7dd039dfee39b4e92cd80e5a52dece2b6f39/os/src/trap/mod.rs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设置下一次时钟事件并允许 S 态定时器中断。应用运行中，时钟事件使处理器进入 Trap 入口，保存应用现场，内核重新设置下一次触发，然后调度其他 Ready 任务。ch3 的 TICKS_PER_SEC=100，按配置频率计算约 10 毫秒，实际时间依赖 CLOCK_FREQ 与平台时钟一致。强调两个时间尺度：广告每五分钟更换一次内容属于业务策略，CPU 调度通常按毫秒级交替执行。仅写一个每五分钟更新画面的循环，本身不能说明已经有多任务内核。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https://github.com/LearningOS/2026a-rcore-Alayfolk64/blob/3b9f7dd039dfee39b4e92cd80e5a52dece2b6f39/os/src/timer.rs</a:t>
            </a:r>
          </a:p>
          <a:p xmlns:a="http://schemas.openxmlformats.org/drawingml/2006/main">
            <a:r>
              <a:t>https://github.com/LearningOS/2026a-rcore-Alayfolk64/blob/3b9f7dd039dfee39b4e92cd80e5a52dece2b6f39/os/src/trap/mod.rs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沿任务列表向后查找，走到末尾再回到开头，挑选第一个 Ready 的任务。当前任务被暂停后重新变为 Ready，下一个任务进入 Running；Exited 的任务跳过。页面假设 A、B、C 一直可运行，用六个时间片说明 A、B、C、A、B、C 的轮转。每一格是一个 CPU 时间片，不是广告业务的五分钟。轮转分配运行机会，不承诺每个任务获得相同业务进度。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https://github.com/LearningOS/2026a-rcore-Alayfolk64/blob/3b9f7dd039dfee39b4e92cd80e5a52dece2b6f39/os/src/task/mod.rs</a:t>
            </a:r>
          </a:p>
          <a:p xmlns:a="http://schemas.openxmlformats.org/drawingml/2006/main">
            <a:r>
              <a:t>https://github.com/LearningOS/2026a-rcore-Alayfolk64/blob/3b9f7dd039dfee39b4e92cd80e5a52dece2b6f39/os/src/task/task.rs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用三分钟收束到实际仓库。裸机分支只需看四个文件，ch1 重点看最小执行环境，ch2 从 run_next_app 和 trap_handler 接起来，ch3 从时钟中断到 suspend_current_and_run_next，再到 __switch。当前课程仓库的应用测试工程由课程流程提供，不假设 user 目录已经存在。课堂不在此临时完整搭建 ch2/ch3 的测试环境。请同学课后结合对应章节指南跑实验，跟踪一次控制流。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https://github.com/LearningOS/2026a-rcore-Alayfolk64</a:t>
            </a:r>
          </a:p>
          <a:p xmlns:a="http://schemas.openxmlformats.org/drawingml/2006/main">
            <a:r>
              <a:t>https://github.com/LearningOS/2026a-rcore-Alayfolk64/blob/c32aabf6a6facdf3998b7799ac10818ff713e23a/src/main.rs</a:t>
            </a:r>
          </a:p>
          <a:p xmlns:a="http://schemas.openxmlformats.org/drawingml/2006/main">
            <a:r>
              <a:t>https://github.com/LearningOS/2026a-rcore-Alayfolk64/blob/cf94475a8afdcc3068a839bdfb0f0392491d4f5a/os/src/batch.rs</a:t>
            </a:r>
          </a:p>
          <a:p xmlns:a="http://schemas.openxmlformats.org/drawingml/2006/main">
            <a:r>
              <a:t>https://github.com/LearningOS/2026a-rcore-Alayfolk64/blob/3b9f7dd039dfee39b4e92cd80e5a52dece2b6f39/os/src/task/mod.rs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让学生复述新增能力与需求的对应关系。第一章解决程序如何在无 OS 的环境运行。第二章管理一批应用，把完成或异常后的控制权交回内核，再选择下一项。第三章保存现场和分配运行时间，使未结束的程序也能交替推进。把故事中的节约换卡成本与系统里的控制权管理联系起来，避免只记住三个章节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https://learningos.cn/rCore-Tutorial-Guide/chapter1/4mini-rt-baremetal.html</a:t>
            </a:r>
          </a:p>
          <a:p xmlns:a="http://schemas.openxmlformats.org/drawingml/2006/main">
            <a:r>
              <a:t>https://learningos.cn/rCore-Tutorial-Guide/chapter2/3batch-system.html</a:t>
            </a:r>
          </a:p>
          <a:p xmlns:a="http://schemas.openxmlformats.org/drawingml/2006/main">
            <a:r>
              <a:t>https://learningos.cn/rCore-Tutorial-Guide/chapter3/4time-sharing-system.html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最后五分钟提问。先让同学回答页面上的三个问题。参考答案：裸机时由我们自己和 RustSBI 提供基本执行环境；引入内核后由 S 态内核管理 U 态应用。拿回 CPU 的方式包括应用主动系统调用、异常以及允许的时钟中断。能继续执行是因为上下文和内存状态得到保存。可追加提问：把广告每五分钟轮换一次是否自动等于多任务？答案是否，需要有可独立保存和恢复的多个任务与调度机制。若没有提问，可请一位同学复述从 ecall 到返回用户态的路径。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https://learningos.cn/rCore-Tutorial-Guide/chapter1/4mini-rt-baremetal.html</a:t>
            </a:r>
          </a:p>
          <a:p xmlns:a="http://schemas.openxmlformats.org/drawingml/2006/main">
            <a:r>
              <a:t>https://learningos.cn/rCore-Tutorial-Guide/chapter2/4trap-handling.html</a:t>
            </a:r>
          </a:p>
          <a:p xmlns:a="http://schemas.openxmlformats.org/drawingml/2006/main">
            <a:r>
              <a:t>https://learningos.cn/rCore-Tutorial-Guide/chapter3/4time-sharing-system.html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9d00c76de49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d25a1717a4f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bfd31742c46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0f1067f9046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37618cfea4d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6db181dea45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0A9372-1830-4448-8671-23B07CBD2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71267D-FE67-4A63-8728-49A96BAAB7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AC3935-15E1-413C-8D2F-21D99A84FA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CC4095-C18E-4CDB-8EF7-99410BCE8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11239C-81EE-4F3B-8782-80F899856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34FC44-171E-41A8-B224-197521966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137282-EA5E-40EB-84F2-2E41225DD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EC1B3F-AEB5-4990-80C2-22DE445B44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8065D4-3F7C-42B5-937C-F19CAE1EF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9B8BA0-84B6-4179-927C-D5EF89CE06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2f11e47e54fd9" /><Relationship Type="http://schemas.openxmlformats.org/officeDocument/2006/relationships/slideLayout" Target="/ppt/slideLayouts/slideLayout1.xml" Id="R47bba460cac9440d" /><Relationship Type="http://schemas.openxmlformats.org/officeDocument/2006/relationships/slideLayout" Target="/ppt/slideLayouts/slideLayout2.xml" Id="R6a84d7afed8c4224" /><Relationship Type="http://schemas.openxmlformats.org/officeDocument/2006/relationships/slideLayout" Target="/ppt/slideLayouts/slideLayout3.xml" Id="R7c62ca45ae1d4f3f" /><Relationship Type="http://schemas.openxmlformats.org/officeDocument/2006/relationships/slideLayout" Target="/ppt/slideLayouts/slideLayout4.xml" Id="R6e897b084fd24423" /><Relationship Type="http://schemas.openxmlformats.org/officeDocument/2006/relationships/slideLayout" Target="/ppt/slideLayouts/slideLayout5.xml" Id="Rb9a0ceb19cf44cb5" /><Relationship Type="http://schemas.openxmlformats.org/officeDocument/2006/relationships/slideLayout" Target="/ppt/slideLayouts/slideLayout6.xml" Id="R30f962817831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bba460cac9440d"/>
    <p:sldLayoutId xmlns:r="http://schemas.openxmlformats.org/officeDocument/2006/relationships" id="2147483650" r:id="R6a84d7afed8c4224"/>
    <p:sldLayoutId xmlns:r="http://schemas.openxmlformats.org/officeDocument/2006/relationships" id="2147483651" r:id="R7c62ca45ae1d4f3f"/>
    <p:sldLayoutId xmlns:r="http://schemas.openxmlformats.org/officeDocument/2006/relationships" id="2147483652" r:id="R6e897b084fd24423"/>
    <p:sldLayoutId xmlns:r="http://schemas.openxmlformats.org/officeDocument/2006/relationships" id="2147483653" r:id="Rb9a0ceb19cf44cb5"/>
    <p:sldLayoutId xmlns:r="http://schemas.openxmlformats.org/officeDocument/2006/relationships" id="2147483654" r:id="R30f962817831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22ebca67d42e0" /><Relationship Type="http://schemas.openxmlformats.org/officeDocument/2006/relationships/image" Target="/ppt/media/image.png" Id="R8e053166ef254f91" /><Relationship Type="http://schemas.openxmlformats.org/officeDocument/2006/relationships/notesSlide" Target="/ppt/notesSlides/notesSlide1.xml" Id="R31bdf7aac27c4a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7169e493c48a1" /><Relationship Type="http://schemas.openxmlformats.org/officeDocument/2006/relationships/notesSlide" Target="/ppt/notesSlides/notesSlide2.xml" Id="R30c8af0ff1a141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e440f1b6b4b3e" /><Relationship Type="http://schemas.openxmlformats.org/officeDocument/2006/relationships/notesSlide" Target="/ppt/notesSlides/notesSlide3.xml" Id="R67769646c61a46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a3a81f81e4143" /><Relationship Type="http://schemas.openxmlformats.org/officeDocument/2006/relationships/notesSlide" Target="/ppt/notesSlides/notesSlide4.xml" Id="R6f5d0980cc4848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32e6856ce49ad" /><Relationship Type="http://schemas.openxmlformats.org/officeDocument/2006/relationships/notesSlide" Target="/ppt/notesSlides/notesSlide5.xml" Id="R514ac8124eb54c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67b74e25143ba" /><Relationship Type="http://schemas.openxmlformats.org/officeDocument/2006/relationships/notesSlide" Target="/ppt/notesSlides/notesSlide6.xml" Id="R8af654df956d45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969ee73a54f18" /><Relationship Type="http://schemas.openxmlformats.org/officeDocument/2006/relationships/notesSlide" Target="/ppt/notesSlides/notesSlide7.xml" Id="R757176962fef43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d4f4f2dee4ab9" /><Relationship Type="http://schemas.openxmlformats.org/officeDocument/2006/relationships/notesSlide" Target="/ppt/notesSlides/notesSlide8.xml" Id="R0c8ac8a5b1364b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9499a09564416" /><Relationship Type="http://schemas.openxmlformats.org/officeDocument/2006/relationships/notesSlide" Target="/ppt/notesSlides/notesSlide9.xml" Id="R50eb683a3a284f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72673a57d45cd" /><Relationship Type="http://schemas.openxmlformats.org/officeDocument/2006/relationships/notesSlide" Target="/ppt/notesSlides/notesSlide10.xml" Id="R2af9b87bf2bb41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d8e66c3863427d" /><Relationship Type="http://schemas.openxmlformats.org/officeDocument/2006/relationships/notesSlide" Target="/ppt/notesSlides/notesSlide11.xml" Id="Re08ee0e4735648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7f542dcb04ee0" /><Relationship Type="http://schemas.openxmlformats.org/officeDocument/2006/relationships/image" Target="/ppt/media/image2.png" Id="Rea9e9fe1b4104048" /><Relationship Type="http://schemas.openxmlformats.org/officeDocument/2006/relationships/notesSlide" Target="/ppt/notesSlides/notesSlide12.xml" Id="R4941865ef4a745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57e7e2ddb4627" /><Relationship Type="http://schemas.openxmlformats.org/officeDocument/2006/relationships/notesSlide" Target="/ppt/notesSlides/notesSlide13.xml" Id="Rce597f734fde42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850d750d149d6" /><Relationship Type="http://schemas.openxmlformats.org/officeDocument/2006/relationships/notesSlide" Target="/ppt/notesSlides/notesSlide14.xml" Id="Rd40cb4e612674b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d905798864565" /><Relationship Type="http://schemas.openxmlformats.org/officeDocument/2006/relationships/notesSlide" Target="/ppt/notesSlides/notesSlide15.xml" Id="Rc37de6da65ac4b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621da72274fb0" /><Relationship Type="http://schemas.openxmlformats.org/officeDocument/2006/relationships/notesSlide" Target="/ppt/notesSlides/notesSlide16.xml" Id="R4c54ca3b22d242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05c8407c64b01" /><Relationship Type="http://schemas.openxmlformats.org/officeDocument/2006/relationships/notesSlide" Target="/ppt/notesSlides/notesSlide17.xml" Id="Rad6f0320796e4e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b5541d9e04578" /><Relationship Type="http://schemas.openxmlformats.org/officeDocument/2006/relationships/notesSlide" Target="/ppt/notesSlides/notesSlide18.xml" Id="Rfdbd2eaaaea846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340864a5d4af1" /><Relationship Type="http://schemas.openxmlformats.org/officeDocument/2006/relationships/notesSlide" Target="/ppt/notesSlides/notesSlide19.xml" Id="R379e2a2a3b2441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d021a1c714506" /><Relationship Type="http://schemas.openxmlformats.org/officeDocument/2006/relationships/notesSlide" Target="/ppt/notesSlides/notesSlide20.xml" Id="R6fe6dd1b11c941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81dfe46d44a30" /><Relationship Type="http://schemas.openxmlformats.org/officeDocument/2006/relationships/notesSlide" Target="/ppt/notesSlides/notesSlide21.xml" Id="R32a44e05565849c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2a81817d642c6" /><Relationship Type="http://schemas.openxmlformats.org/officeDocument/2006/relationships/notesSlide" Target="/ppt/notesSlides/notesSlide22.xml" Id="Rfd0484d83d8149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69877f3404efd" /><Relationship Type="http://schemas.openxmlformats.org/officeDocument/2006/relationships/notesSlide" Target="/ppt/notesSlides/notesSlide23.xml" Id="Ra54975c94ecb42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b5e2bbb0d4b1e" /><Relationship Type="http://schemas.openxmlformats.org/officeDocument/2006/relationships/notesSlide" Target="/ppt/notesSlides/notesSlide24.xml" Id="R9ebe93b5b59644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847062e274b90" /><Relationship Type="http://schemas.openxmlformats.org/officeDocument/2006/relationships/notesSlide" Target="/ppt/notesSlides/notesSlide25.xml" Id="R581c57b7209c4cc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c762b5edc34c1b" /><Relationship Type="http://schemas.openxmlformats.org/officeDocument/2006/relationships/notesSlide" Target="/ppt/notesSlides/notesSlide26.xml" Id="Rbe7907e726674f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BDC3348-52DE-4D26-A52E-4F340619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B3706-57D0-448F-9BE7-6340CC6D59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53166ef254f91"/>
          <a:stretch xmlns:a="http://schemas.openxmlformats.org/drawingml/2006/main"/>
        </p:blipFill>
        <p:spPr>
          <a:xfrm xmlns:a="http://schemas.openxmlformats.org/drawingml/2006/main">
            <a:off x="4624388" y="1085850"/>
            <a:ext cx="7515225" cy="5010150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4A84B70-9B15-4FED-859E-8FF96370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01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OpenCamp 2026 秋冬季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E710589-61C9-4B95-B52C-9453010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381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一块广告屏里的</a:t>
            </a:r>
          </a:p>
          <a:p xmlns:a="http://schemas.openxmlformats.org/drawingml/2006/main">
            <a:pPr algn="l">
              <a:def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操作系统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7EC608F-FB79-49F2-8D3A-A724A80A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rPr>
              <a:t>专业阶段第一课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33FC055-6CF8-42CA-9330-8F9D574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裸机应用 / 批处理 / 分时多任务</a:t>
            </a:r>
          </a:p>
        </p:txBody>
      </p:sp>
    </p:spTree>
    <p:extLst>
      <p:ext uri="{BB962C8B-B14F-4D97-AF65-F5344CB8AC3E}">
        <p14:creationId xmlns:p14="http://schemas.microsoft.com/office/powerpoint/2010/main" val="1574164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55FB39-BD3C-4A47-912A-1881BFF9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今天的三次改造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C183B1-6D99-4211-883D-C04E1E4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2395A-79E5-43A4-ACA4-6CB66F59B654}"/>
              </a:ext>
            </a:extLst>
          </p:cNvPr>
          <p:cNvGraphicFramePr/>
          <p:nvPr/>
        </p:nvGraphicFramePr>
        <p:xfrm>
          <a:off xmlns:a="http://schemas.openxmlformats.org/drawingml/2006/main" x="704850" y="1714500"/>
          <a:ext xmlns:a="http://schemas.openxmlformats.org/drawingml/2006/main" cx="107823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5829300"/>
              </a:tblGrid>
              <a:tr h="90487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新增能力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90487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先显示一句话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基本执行环境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90487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一批广告自动运行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批处理与特权切换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90487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广告轮流获得机会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任务切换与时钟抢占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883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0D62FD-8D31-413D-B150-89874B95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第一位客户：显示一句话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A5C870-1D88-498A-8E13-2FBE6741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EFD232-CFD2-4BD2-8CEB-A5B13A78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defPPr>
            <a:lvl1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1pPr>
            <a:lvl2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2pPr>
            <a:lvl3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3pPr>
            <a:lvl4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4pPr>
            <a:lvl5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5pPr>
            <a:lvl6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6pPr>
            <a:lvl7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7pPr>
            <a:lvl8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8pPr>
            <a:lvl9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61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pPr>
            <a:r>
              <a:rPr sz="6150" b="0">
                <a:solidFill>
                  <a:srgbClr val="317A70"/>
                </a:solidFill>
                <a:latin typeface="Menlo"/>
                <a:ea typeface="Menlo"/>
                <a:cs typeface="Menlo"/>
              </a:rPr>
              <a:t>Hello, world!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6BE649-DBBA-4034-83E5-946C54F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148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rPr>
              <a:t>一个应用，一台机器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AD99A0-20AF-4C17-9FE4-6082509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课堂演示用串口输出代替广告屏</a:t>
            </a:r>
          </a:p>
        </p:txBody>
      </p:sp>
    </p:spTree>
    <p:extLst>
      <p:ext uri="{BB962C8B-B14F-4D97-AF65-F5344CB8AC3E}">
        <p14:creationId xmlns:p14="http://schemas.microsoft.com/office/powerpoint/2010/main" val="2091519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8ECDA5-4B65-4EDA-AAA9-7535177F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裸机应用的启动顺序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B3346B6-2588-4AB9-AB26-A2462F0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74E1F-6B84-49F0-98E2-49A4062CBC11}"/>
              </a:ext>
            </a:extLst>
          </p:cNvPr>
          <p:cNvGraphicFramePr/>
          <p:nvPr/>
        </p:nvGraphicFramePr>
        <p:xfrm>
          <a:off xmlns:a="http://schemas.openxmlformats.org/drawingml/2006/main" x="704850" y="173355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00500"/>
                <a:gridCol w="3733800"/>
              </a:tblGrid>
              <a:tr h="8572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启动阶段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572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机器启动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QEMU virt 复位引导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虚拟硬件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572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② 固件初始化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RustSBI，M 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0x80000000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572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③ 应用运行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_start，S 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0x80200000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3322C89-070D-4064-9F40-39AC9FC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本次启动约定：链接地址与加载地址保持一致</a:t>
            </a:r>
          </a:p>
        </p:txBody>
      </p:sp>
    </p:spTree>
    <p:extLst>
      <p:ext uri="{BB962C8B-B14F-4D97-AF65-F5344CB8AC3E}">
        <p14:creationId xmlns:p14="http://schemas.microsoft.com/office/powerpoint/2010/main" val="1568015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5939C2-BCD1-4ACF-B25B-EFDCC7CD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编译、转换、加载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6F94DFB-B960-4197-B398-E0FA42FE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38BF6A-BA91-45A1-9874-F1C11B41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858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defPPr>
            <a:lvl1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1pPr>
            <a:lvl2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2pPr>
            <a:lvl3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3pPr>
            <a:lvl4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4pPr>
            <a:lvl5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5pPr>
            <a:lvl6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6pPr>
            <a:lvl7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7pPr>
            <a:lvl8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8pPr>
            <a:lvl9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cargo build --release</a:t>
            </a:r>
          </a:p>
          <a:p xmlns:a="http://schemas.openxmlformats.org/drawingml/2006/main">
            <a:pPr algn="l">
              <a:defRPr sz="20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rust-objcopy --strip-all -O binary app.elf app.bin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3B6FE-72C0-48F4-9B95-D5E6C3E4AD59}"/>
              </a:ext>
            </a:extLst>
          </p:cNvPr>
          <p:cNvGraphicFramePr/>
          <p:nvPr/>
        </p:nvGraphicFramePr>
        <p:xfrm>
          <a:off xmlns:a="http://schemas.openxmlformats.org/drawingml/2006/main" x="704850" y="3571875"/>
          <a:ext xmlns:a="http://schemas.openxmlformats.org/drawingml/2006/main" cx="10782300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91150"/>
                <a:gridCol w="5391150"/>
              </a:tblGrid>
              <a:tr h="7810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ELF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裸二进制 .bin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7810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代码 + 数据 + 文件描述信息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按加载地址排列的内容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D71EB75-44EA-4E43-8A54-C18F5087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QEMU 将 .bin 放到 0x80200000</a:t>
            </a:r>
          </a:p>
        </p:txBody>
      </p:sp>
    </p:spTree>
    <p:extLst>
      <p:ext uri="{BB962C8B-B14F-4D97-AF65-F5344CB8AC3E}">
        <p14:creationId xmlns:p14="http://schemas.microsoft.com/office/powerpoint/2010/main" val="121021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4AB394-1801-4718-A6D2-ED6024A8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进入 Rust 之前，先设置栈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447836-90C0-4AA9-B81D-99597C83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29D370-F38A-4D02-BA1B-8A9C269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028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defPPr>
            <a:lvl1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1pPr>
            <a:lvl2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2pPr>
            <a:lvl3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3pPr>
            <a:lvl4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4pPr>
            <a:lvl5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5pPr>
            <a:lvl6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6pPr>
            <a:lvl7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7pPr>
            <a:lvl8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8pPr>
            <a:lvl9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3000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_start:</a:t>
            </a:r>
          </a:p>
          <a:p xmlns:a="http://schemas.openxmlformats.org/drawingml/2006/main">
            <a: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3000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    la sp, boot_stack_top</a:t>
            </a:r>
          </a:p>
          <a:p xmlns:a="http://schemas.openxmlformats.org/drawingml/2006/main">
            <a:pPr algn="l">
              <a:defRPr sz="30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3000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    call rust_main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22D7787-4EA3-4F1B-9B59-E593C3F9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sp 指向预留栈的高地址端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07A4E56-F081-48F6-9587-1EAE9EA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栈空间 16 KiB，栈顶 16 字节对齐</a:t>
            </a:r>
          </a:p>
        </p:txBody>
      </p:sp>
    </p:spTree>
    <p:extLst>
      <p:ext uri="{BB962C8B-B14F-4D97-AF65-F5344CB8AC3E}">
        <p14:creationId xmlns:p14="http://schemas.microsoft.com/office/powerpoint/2010/main" val="1671673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95E034-ED8E-4372-BAF3-EE222E41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最小应用的内存布局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22F5887-7865-4CF1-AE49-1252467C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3BF93-F1F5-4B51-A36C-9879C8DCE2D7}"/>
              </a:ext>
            </a:extLst>
          </p:cNvPr>
          <p:cNvGraphicFramePr/>
          <p:nvPr/>
        </p:nvGraphicFramePr>
        <p:xfrm>
          <a:off xmlns:a="http://schemas.openxmlformats.org/drawingml/2006/main" x="704850" y="1752600"/>
          <a:ext xmlns:a="http://schemas.openxmlformats.org/drawingml/2006/main" cx="107823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448300"/>
              </a:tblGrid>
              <a:tr h="845344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从低地址到高地址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45344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.text   @ 0x80200000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入口与函数代码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45344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.rodata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Hello, world! 字符串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45344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.stack   16 KiB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函数调用需要的栈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0AAC9C7-B43C-4FDE-A1CF-CF05ABB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NOLOAD：预留地址，不保存栈的初始内容</a:t>
            </a:r>
          </a:p>
        </p:txBody>
      </p:sp>
    </p:spTree>
    <p:extLst>
      <p:ext uri="{BB962C8B-B14F-4D97-AF65-F5344CB8AC3E}">
        <p14:creationId xmlns:p14="http://schemas.microsoft.com/office/powerpoint/2010/main" val="569469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9B2E78-DA99-4361-AF34-39DAE55A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输出服务一次接收一个字符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BE80148-B0F2-48F9-BDEA-84A4782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FC0281-FEB3-4311-AC4F-A2AB7B5E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9906000" cy="169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defPPr>
            <a:lvl1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1pPr>
            <a:lvl2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2pPr>
            <a:lvl3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3pPr>
            <a:lvl4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4pPr>
            <a:lvl5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5pPr>
            <a:lvl6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6pPr>
            <a:lvl7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7pPr>
            <a:lvl8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8pPr>
            <a:lvl9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62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for byte in text.bytes() {</a:t>
            </a:r>
          </a:p>
          <a:p xmlns:a="http://schemas.openxmlformats.org/drawingml/2006/main">
            <a: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62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    console_putchar(byte);</a:t>
            </a:r>
          </a:p>
          <a:p xmlns:a="http://schemas.openxmlformats.org/drawingml/2006/main">
            <a:pPr algn="l">
              <a:defRPr sz="262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62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4E949-13B9-4D8C-B4BA-FAD35142510A}"/>
              </a:ext>
            </a:extLst>
          </p:cNvPr>
          <p:cNvGraphicFramePr/>
          <p:nvPr/>
        </p:nvGraphicFramePr>
        <p:xfrm>
          <a:off xmlns:a="http://schemas.openxmlformats.org/drawingml/2006/main" x="704850" y="3857625"/>
          <a:ext xmlns:a="http://schemas.openxmlformats.org/drawingml/2006/main" cx="10782300" cy="140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90925"/>
                <a:gridCol w="3590925"/>
                <a:gridCol w="3600450"/>
              </a:tblGrid>
              <a:tr h="7048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a7 = 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 = byte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ecall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7048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选择字符输出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传入一个字节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 RustSBI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128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F57020-3933-4AD4-8BFC-5D7FF91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关机也是一次服务调用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659E51-0F43-4E8A-A7B6-5C92CA7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AD503-F394-4C72-8D4D-600507ECDD2C}"/>
              </a:ext>
            </a:extLst>
          </p:cNvPr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107823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29550"/>
              </a:tblGrid>
              <a:tr h="7048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寄存器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正常关机参数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7048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0x53525354  /  SRST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048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  /  system_reset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048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  /  shutdown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0485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  /  正常结束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8B79D8-D0C0-49AB-9A65-D7150B84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调用成功后不再返回</a:t>
            </a:r>
          </a:p>
        </p:txBody>
      </p:sp>
    </p:spTree>
    <p:extLst>
      <p:ext uri="{BB962C8B-B14F-4D97-AF65-F5344CB8AC3E}">
        <p14:creationId xmlns:p14="http://schemas.microsoft.com/office/powerpoint/2010/main" val="1680169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8A7FBC-F76F-4522-A962-58C769CF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现场演示：裸机 Hello World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D51BA03-F74A-4192-972C-6294505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049A89-9468-40A6-9C37-0AE5CAB9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7632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defPPr>
            <a:lvl1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1pPr>
            <a:lvl2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2pPr>
            <a:lvl3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3pPr>
            <a:lvl4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4pPr>
            <a:lvl5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5pPr>
            <a:lvl6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6pPr>
            <a:lvl7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7pPr>
            <a:lvl8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8pPr>
            <a:lvl9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pub extern "C" fn rust_main() -&gt; ! {</a:t>
            </a:r>
          </a:p>
          <a:p xmlns:a="http://schemas.openxmlformats.org/drawingml/2006/main">
            <a: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    sbi::put_str("\nHello, world!\n\n");</a:t>
            </a:r>
          </a:p>
          <a:p xmlns:a="http://schemas.openxmlformats.org/drawingml/2006/main">
            <a: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    sbi::shutdown(false)</a:t>
            </a:r>
          </a:p>
          <a:p xmlns:a="http://schemas.openxmlformats.org/drawingml/2006/main">
            <a:pPr algn="l">
              <a:defRPr sz="21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A624E3-31DB-441D-BE39-4DE1BC8E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317A70"/>
                </a:solidFill>
                <a:latin typeface="Menlo"/>
                <a:ea typeface="Menlo"/>
                <a:cs typeface="Menlo"/>
              </a:rPr>
              <a:t>make run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B21E662-3F46-411C-8DE7-9495154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看到 Hello, world!，随后正常关机</a:t>
            </a:r>
          </a:p>
        </p:txBody>
      </p:sp>
    </p:spTree>
    <p:extLst>
      <p:ext uri="{BB962C8B-B14F-4D97-AF65-F5344CB8AC3E}">
        <p14:creationId xmlns:p14="http://schemas.microsoft.com/office/powerpoint/2010/main" val="1076385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B1CD62-25C4-48F4-A84F-E200063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ch1：公共执行环境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5F15E2-74FF-4C17-A909-DCAD115F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8202935-0B47-402C-805D-72140149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rPr>
              <a:t>广告内容经常更换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C2AA1EC-5FF6-4840-B6B1-C739618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启动和设备服务可以复用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A5B045-8D46-4AF3-9FCE-9A3AA414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先建立最小执行环境，再分离应用与内核</a:t>
            </a:r>
          </a:p>
        </p:txBody>
      </p:sp>
    </p:spTree>
    <p:extLst>
      <p:ext uri="{BB962C8B-B14F-4D97-AF65-F5344CB8AC3E}">
        <p14:creationId xmlns:p14="http://schemas.microsoft.com/office/powerpoint/2010/main" val="6032988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3FBA54-38C0-4B27-9BBC-218194D4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老板想省掉换卡的人力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999F78-BF3B-4C31-9E38-BA372EE3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54883-9F3C-4561-8F27-D5A81FCC75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e9fe1b4104048"/>
          <a:stretch xmlns:a="http://schemas.openxmlformats.org/drawingml/2006/main"/>
        </p:blipFill>
        <p:spPr>
          <a:xfrm xmlns:a="http://schemas.openxmlformats.org/drawingml/2006/main">
            <a:off x="4524375" y="1582738"/>
            <a:ext cx="7524750" cy="501650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582924B-9A0C-49F7-A0E0-7C18EAD6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3 小时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4E94CA7-CD2E-423F-A4CF-026F5DAD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718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rPr>
              <a:t>一次广告周期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B1E58AB-D545-49B3-986E-07D5BFA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rPr>
              <a:t>10 分钟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9477D88-2803-4B68-8325-69B0189D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339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rPr>
              <a:t>一次人工换程序</a:t>
            </a:r>
          </a:p>
        </p:txBody>
      </p:sp>
    </p:spTree>
    <p:extLst>
      <p:ext uri="{BB962C8B-B14F-4D97-AF65-F5344CB8AC3E}">
        <p14:creationId xmlns:p14="http://schemas.microsoft.com/office/powerpoint/2010/main" val="930807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700AD6-29AA-4DC0-9C38-61898CEB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ch2：一次装入，依次运行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247CF5-60C1-4627-9787-D0B1516C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13FB7-192A-4AEA-993B-30073E4AC062}"/>
              </a:ext>
            </a:extLst>
          </p:cNvPr>
          <p:cNvGraphicFramePr/>
          <p:nvPr/>
        </p:nvGraphicFramePr>
        <p:xfrm>
          <a:off xmlns:a="http://schemas.openxmlformats.org/drawingml/2006/main" x="704850" y="2057400"/>
          <a:ext xmlns:a="http://schemas.openxmlformats.org/drawingml/2006/main" cx="10782300" cy="2505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90925"/>
                <a:gridCol w="3590925"/>
                <a:gridCol w="3600450"/>
              </a:tblGrid>
              <a:tr h="8350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第一个时段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第二个时段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第三个时段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350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广告 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广告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广告 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50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运行至结束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运行至结束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4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运行至结束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721B317-48CF-464A-9E9F-B817443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结束一个，再加载下一个</a:t>
            </a:r>
          </a:p>
        </p:txBody>
      </p:sp>
    </p:spTree>
    <p:extLst>
      <p:ext uri="{BB962C8B-B14F-4D97-AF65-F5344CB8AC3E}">
        <p14:creationId xmlns:p14="http://schemas.microsoft.com/office/powerpoint/2010/main" val="869245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634DE4-630B-49D0-9AA2-B4159792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批处理复用同一块运行区域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5DE176D-F1C7-457A-8FE1-7F0BD428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069D764-5C2B-4695-A030-6E67CC4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defPPr>
            <a:lvl1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1pPr>
            <a:lvl2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2pPr>
            <a:lvl3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3pPr>
            <a:lvl4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4pPr>
            <a:lvl5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5pPr>
            <a:lvl6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6pPr>
            <a:lvl7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7pPr>
            <a:lvl8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8pPr>
            <a:lvl9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950" b="0">
                <a:solidFill>
                  <a:srgbClr val="317A70"/>
                </a:solidFill>
                <a:latin typeface="Menlo"/>
                <a:ea typeface="Menlo"/>
                <a:cs typeface="Menlo"/>
              </a:defRPr>
            </a:pPr>
            <a:r>
              <a:rPr sz="4950" b="0">
                <a:solidFill>
                  <a:srgbClr val="317A70"/>
                </a:solidFill>
                <a:latin typeface="Menlo"/>
                <a:ea typeface="Menlo"/>
                <a:cs typeface="Menlo"/>
              </a:rPr>
              <a:t>0x80400000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D67BA-3A01-434B-9857-FDFA06231093}"/>
              </a:ext>
            </a:extLst>
          </p:cNvPr>
          <p:cNvGraphicFramePr/>
          <p:nvPr/>
        </p:nvGraphicFramePr>
        <p:xfrm>
          <a:off xmlns:a="http://schemas.openxmlformats.org/drawingml/2006/main" x="704850" y="2914650"/>
          <a:ext xmlns:a="http://schemas.openxmlformats.org/drawingml/2006/main" cx="107823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43800"/>
              </a:tblGrid>
              <a:tr h="595313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运行顺序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同一地址里放什么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595313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1 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 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95313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2 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 B 覆盖 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95313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3 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 C 覆盖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7C9B32F-8DA2-4509-97B1-ED8E960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load_app：清空、复制、fence.i</a:t>
            </a:r>
          </a:p>
        </p:txBody>
      </p:sp>
    </p:spTree>
    <p:extLst>
      <p:ext uri="{BB962C8B-B14F-4D97-AF65-F5344CB8AC3E}">
        <p14:creationId xmlns:p14="http://schemas.microsoft.com/office/powerpoint/2010/main" val="11227312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53009B-06D1-4AEE-81D9-59541ADB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应用与管理者有不同权限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47CD92-62D3-4A70-80DB-C17BF49B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9C0B0-43C8-4755-B750-7034A1235486}"/>
              </a:ext>
            </a:extLst>
          </p:cNvPr>
          <p:cNvGraphicFramePr/>
          <p:nvPr/>
        </p:nvGraphicFramePr>
        <p:xfrm>
          <a:off xmlns:a="http://schemas.openxmlformats.org/drawingml/2006/main" x="704850" y="1752600"/>
          <a:ext xmlns:a="http://schemas.openxmlformats.org/drawingml/2006/main" cx="10782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495800"/>
              </a:tblGrid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权限层级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承担的工作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 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广告应用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执行广告逻辑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 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批处理内核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管理应用与处理 Trap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 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RustSBI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提供底层固件服务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B4C7482-EF28-49B3-9353-52BF6396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独立地址空间留到 ch4</a:t>
            </a:r>
          </a:p>
        </p:txBody>
      </p:sp>
    </p:spTree>
    <p:extLst>
      <p:ext uri="{BB962C8B-B14F-4D97-AF65-F5344CB8AC3E}">
        <p14:creationId xmlns:p14="http://schemas.microsoft.com/office/powerpoint/2010/main" val="19763648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DF5416-9A06-4561-8457-BC8A3773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一次系统调用的往返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969F0C-90C8-4378-B7B3-E4E9EB9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06431-1119-4A9F-B176-50B918338EC1}"/>
              </a:ext>
            </a:extLst>
          </p:cNvPr>
          <p:cNvGraphicFramePr/>
          <p:nvPr/>
        </p:nvGraphicFramePr>
        <p:xfrm>
          <a:off xmlns:a="http://schemas.openxmlformats.org/drawingml/2006/main" x="704850" y="1685925"/>
          <a:ext xmlns:a="http://schemas.openxmlformats.org/drawingml/2006/main" cx="107823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43800"/>
              </a:tblGrid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发生什么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U 态应用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ecall 请求服务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② Trap 入口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保存寄存器与返回位置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③ S 态内核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处理请求，写回结果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④ 返回应用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恢复上下文，sret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F4FD465-5AEA-4AEB-B398-26F4C46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TrapContext 保存被打断时的应用现场</a:t>
            </a:r>
          </a:p>
        </p:txBody>
      </p:sp>
    </p:spTree>
    <p:extLst>
      <p:ext uri="{BB962C8B-B14F-4D97-AF65-F5344CB8AC3E}">
        <p14:creationId xmlns:p14="http://schemas.microsoft.com/office/powerpoint/2010/main" val="5947316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37BE3A-8F27-4BFC-ABFF-03C50433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自动运行，还不够公平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DCD0FBA-4B15-4948-81FD-88AFA545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299-4B7D-4D83-B5AD-E092A8F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1">
                <a:solidFill>
                  <a:srgbClr val="CF6B51"/>
                </a:solidFill>
                <a:latin typeface="Arial Unicode MS"/>
                <a:ea typeface="Arial Unicode MS"/>
                <a:cs typeface="Arial Unicode MS"/>
              </a:rPr>
              <a:t>连续 3 小时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C19D11-C795-4E72-91DB-28E333CC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改为每 5 分钟轮播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7F0C02-B9CA-4594-8498-EB7E85F4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热门时段也能轮到不同客户</a:t>
            </a:r>
          </a:p>
        </p:txBody>
      </p:sp>
    </p:spTree>
    <p:extLst>
      <p:ext uri="{BB962C8B-B14F-4D97-AF65-F5344CB8AC3E}">
        <p14:creationId xmlns:p14="http://schemas.microsoft.com/office/powerpoint/2010/main" val="6681009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77CDDD-C970-49DD-9C73-440B12B9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ch3：多个程序同时驻留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802154A-FBC1-4EE8-AC1A-7058D006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F9116-C6FB-4B92-A355-239C98C23CC8}"/>
              </a:ext>
            </a:extLst>
          </p:cNvPr>
          <p:cNvGraphicFramePr/>
          <p:nvPr/>
        </p:nvGraphicFramePr>
        <p:xfrm>
          <a:off xmlns:a="http://schemas.openxmlformats.org/drawingml/2006/main" x="704850" y="1752600"/>
          <a:ext xmlns:a="http://schemas.openxmlformats.org/drawingml/2006/main" cx="10782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686550"/>
              </a:tblGrid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运行区域起点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0x80400000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0x80420000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0x80440000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F7E8192-BDF9-4172-A5DD-893AAF88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单核：多个程序驻留，一个任务正在执行</a:t>
            </a:r>
          </a:p>
        </p:txBody>
      </p:sp>
    </p:spTree>
    <p:extLst>
      <p:ext uri="{BB962C8B-B14F-4D97-AF65-F5344CB8AC3E}">
        <p14:creationId xmlns:p14="http://schemas.microsoft.com/office/powerpoint/2010/main" val="3827609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4FEAB0-4B8E-4CD8-8F75-F407F83D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切走以后，怎样接着跑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93B1CA-C699-4FBC-9616-D832D0F3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D4EED-21BA-401B-A40B-0B45A94256FF}"/>
              </a:ext>
            </a:extLst>
          </p:cNvPr>
          <p:cNvGraphicFramePr/>
          <p:nvPr/>
        </p:nvGraphicFramePr>
        <p:xfrm>
          <a:off xmlns:a="http://schemas.openxmlformats.org/drawingml/2006/main" x="704850" y="1952625"/>
          <a:ext xmlns:a="http://schemas.openxmlformats.org/drawingml/2006/main" cx="107823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781800"/>
              </a:tblGrid>
              <a:tr h="8382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上下文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保存的内容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382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TrapContext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应用寄存器、状态、sepc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8200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TaskContext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ra、sp、s0–s11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B9C6C56-A5CD-405A-90FB-AF53F69F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保存当前位置，下次从这里继续</a:t>
            </a:r>
          </a:p>
        </p:txBody>
      </p:sp>
    </p:spTree>
    <p:extLst>
      <p:ext uri="{BB962C8B-B14F-4D97-AF65-F5344CB8AC3E}">
        <p14:creationId xmlns:p14="http://schemas.microsoft.com/office/powerpoint/2010/main" val="18457732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B0F846-C2C3-4CCF-B792-BE000DCB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协作式：应用主动让出 CPU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6F45A1-B169-4E51-A947-117E8C0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BF7195-20D0-4844-A738-8C25C35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0477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defPPr>
            <a:lvl1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1pPr>
            <a:lvl2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2pPr>
            <a:lvl3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3pPr>
            <a:lvl4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4pPr>
            <a:lvl5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5pPr>
            <a:lvl6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6pPr>
            <a:lvl7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7pPr>
            <a:lvl8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8pPr>
            <a:lvl9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pub fn sys_yield() -&gt; isize {</a:t>
            </a:r>
          </a:p>
          <a:p xmlns:a="http://schemas.openxmlformats.org/drawingml/2006/main">
            <a: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    suspend_current_and_run_next();</a:t>
            </a:r>
          </a:p>
          <a:p xmlns:a="http://schemas.openxmlformats.org/drawingml/2006/main">
            <a: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    0</a:t>
            </a:r>
          </a:p>
          <a:p xmlns:a="http://schemas.openxmlformats.org/drawingml/2006/main">
            <a:pPr algn="l">
              <a:defRPr sz="2475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AEB7C0-A1DD-4322-9D90-CD1D4C1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17A70"/>
                </a:solidFill>
                <a:latin typeface="Arial Unicode MS"/>
                <a:ea typeface="Arial Unicode MS"/>
                <a:cs typeface="Arial Unicode MS"/>
              </a:rPr>
              <a:t>应用愿意让出，调度器才有机会切换</a:t>
            </a:r>
          </a:p>
        </p:txBody>
      </p:sp>
    </p:spTree>
    <p:extLst>
      <p:ext uri="{BB962C8B-B14F-4D97-AF65-F5344CB8AC3E}">
        <p14:creationId xmlns:p14="http://schemas.microsoft.com/office/powerpoint/2010/main" val="14538379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E6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9A6003-4E4C-4EE1-8E1B-D29CC3AF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如果应用一直不让出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FDDF4B-6A57-45C2-86A8-50657F28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F2FBC4-6675-4FBA-ADCE-92A21A5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0382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defPPr>
            <a:lvl1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1pPr>
            <a:lvl2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2pPr>
            <a:lvl3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3pPr>
            <a:lvl4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4pPr>
            <a:lvl5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5pPr>
            <a:lvl6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6pPr>
            <a:lvl7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7pPr>
            <a:lvl8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8pPr>
            <a:lvl9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570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5700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loop {}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A3A0B3-E0AE-4F04-8D79-BA9D7FFC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谁来拿回 CPU？</a:t>
            </a:r>
          </a:p>
        </p:txBody>
      </p:sp>
    </p:spTree>
    <p:extLst>
      <p:ext uri="{BB962C8B-B14F-4D97-AF65-F5344CB8AC3E}">
        <p14:creationId xmlns:p14="http://schemas.microsoft.com/office/powerpoint/2010/main" val="10488878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D210CD-E40D-4AEE-8EA6-7E24E641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抢占式：时钟到点，内核接管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C41987-810C-4F4F-A970-8D1F0875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45C2F1-20C6-40C9-8347-4E56421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57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defPPr>
            <a:lvl1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1pPr>
            <a:lvl2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2pPr>
            <a:lvl3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3pPr>
            <a:lvl4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4pPr>
            <a:lvl5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5pPr>
            <a:lvl6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6pPr>
            <a:lvl7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7pPr>
            <a:lvl8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8pPr>
            <a:lvl9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set_next_trigger();</a:t>
            </a:r>
          </a:p>
          <a:p xmlns:a="http://schemas.openxmlformats.org/drawingml/2006/main">
            <a:pPr algn="l">
              <a:defRPr sz="2550" b="0">
                <a:solidFill>
                  <a:srgbClr val="193F3A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193F3A"/>
                </a:solidFill>
                <a:latin typeface="Menlo"/>
                <a:ea typeface="Menlo"/>
                <a:cs typeface="Menlo"/>
              </a:rPr>
              <a:t>suspend_current_and_run_next();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707BF-9EFC-47D0-8C78-FCDA176C62E0}"/>
              </a:ext>
            </a:extLst>
          </p:cNvPr>
          <p:cNvGraphicFramePr/>
          <p:nvPr/>
        </p:nvGraphicFramePr>
        <p:xfrm>
          <a:off xmlns:a="http://schemas.openxmlformats.org/drawingml/2006/main" x="704850" y="3638550"/>
          <a:ext xmlns:a="http://schemas.openxmlformats.org/drawingml/2006/main" cx="107823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91150"/>
                <a:gridCol w="5391150"/>
              </a:tblGrid>
              <a:tr h="8096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62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广告播放周期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62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时间片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096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6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 分钟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262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毫秒级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0694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3C56D6-1C9F-429B-A0CE-E725522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轮转：挑选下一个 Ready 任务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065635-D036-4E33-A7D2-872B00E2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0C769-72B8-447E-A453-77E9013CCADF}"/>
              </a:ext>
            </a:extLst>
          </p:cNvPr>
          <p:cNvGraphicFramePr/>
          <p:nvPr/>
        </p:nvGraphicFramePr>
        <p:xfrm>
          <a:off xmlns:a="http://schemas.openxmlformats.org/drawingml/2006/main" x="704850" y="2009775"/>
          <a:ext xmlns:a="http://schemas.openxmlformats.org/drawingml/2006/main" cx="10782300" cy="173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0700"/>
                <a:gridCol w="1790700"/>
                <a:gridCol w="1800225"/>
                <a:gridCol w="1800225"/>
                <a:gridCol w="1800225"/>
                <a:gridCol w="1800225"/>
              </a:tblGrid>
              <a:tr h="86677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6677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5E9F0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ctr"/>
                      <a:r>
                        <a:rPr sz="315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5E9F0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8623AE3-7C70-4384-A932-08A923A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354D47"/>
                </a:solidFill>
                <a:latin typeface="Arial Unicode MS"/>
                <a:ea typeface="Arial Unicode MS"/>
                <a:cs typeface="Arial Unicode MS"/>
              </a:rPr>
              <a:t>Ready 等待    Running 执行    Exited 跳过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45B6FEF-D86A-4CB8-BC02-BAF4820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示例：三个任务都持续可运行</a:t>
            </a:r>
          </a:p>
        </p:txBody>
      </p:sp>
    </p:spTree>
    <p:extLst>
      <p:ext uri="{BB962C8B-B14F-4D97-AF65-F5344CB8AC3E}">
        <p14:creationId xmlns:p14="http://schemas.microsoft.com/office/powerpoint/2010/main" val="17872974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75D6F7-695A-4AA3-83C1-30147D1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课后沿这几处源码继续读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A645CA-DE52-43B3-9ADB-03C970FF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D09C4-ADCB-4742-A25D-FFF7BF53A141}"/>
              </a:ext>
            </a:extLst>
          </p:cNvPr>
          <p:cNvGraphicFramePr/>
          <p:nvPr/>
        </p:nvGraphicFramePr>
        <p:xfrm>
          <a:off xmlns:a="http://schemas.openxmlformats.org/drawingml/2006/main" x="704850" y="1628775"/>
          <a:ext xmlns:a="http://schemas.openxmlformats.org/drawingml/2006/main" cx="107823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43800"/>
              </a:tblGrid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关注位置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bare-metal-hello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entry.asm、linker.ld、main.rs、sbi.rs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基本执行环境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batch.rs、trap/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733425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task/、timer.rs、trap/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5DD3633-EA87-4040-A255-8009CA0E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沿一次运行追踪控制权，比一次读完所有代码更清楚</a:t>
            </a:r>
          </a:p>
        </p:txBody>
      </p:sp>
    </p:spTree>
    <p:extLst>
      <p:ext uri="{BB962C8B-B14F-4D97-AF65-F5344CB8AC3E}">
        <p14:creationId xmlns:p14="http://schemas.microsoft.com/office/powerpoint/2010/main" val="4591205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5DA344-A58B-433E-A5B2-0E3A932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每次改造，都回答一个问题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D9FF83D-FF6E-47A6-9F0F-8382D07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1FB56-8D8C-43B4-A94E-EA1476EC6B53}"/>
              </a:ext>
            </a:extLst>
          </p:cNvPr>
          <p:cNvGraphicFramePr/>
          <p:nvPr/>
        </p:nvGraphicFramePr>
        <p:xfrm>
          <a:off xmlns:a="http://schemas.openxmlformats.org/drawingml/2006/main" x="704850" y="1752600"/>
          <a:ext xmlns:a="http://schemas.openxmlformats.org/drawingml/2006/main" cx="10782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495800"/>
              </a:tblGrid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对应机制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T w="6668">
                      <a:solidFill>
                        <a:srgbClr val="CFDAD2"/>
                      </a:solidFill>
                      <a:prstDash val="solid"/>
                    </a:lnT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E2EDE6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程序怎样跑起来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入口、栈、固件服务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怎样自动运行下一项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加载、系统调用、Trap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833438"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AD2"/>
                      </a:solidFill>
                      <a:prstDash val="solid"/>
                    </a:lnL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怎样轮流且接着执行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354D4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上下文、调度、时钟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AD2"/>
                      </a:solidFill>
                      <a:prstDash val="solid"/>
                    </a:lnR>
                    <a:lnB w="6668">
                      <a:solidFill>
                        <a:srgbClr val="CFDA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6891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2ED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4A266D-7E03-4D01-98E2-D27577DA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回到这块广告屏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6361898-D880-4074-9552-A38AA68C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18078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855E0C1-3FB0-4AC8-A5BE-01ED7F22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谁提供执行环境？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3D9682-9BA9-4B76-BE0F-BEB41AF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谁能拿回 CPU？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C106371-ACDE-4735-9628-61F714F8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93F3A"/>
                </a:solidFill>
                <a:latin typeface="Arial Unicode MS"/>
                <a:ea typeface="Arial Unicode MS"/>
                <a:cs typeface="Arial Unicode MS"/>
              </a:rPr>
              <a:t>切回来，为什么还能继续？</a:t>
            </a:r>
          </a:p>
        </p:txBody>
      </p:sp>
    </p:spTree>
    <p:extLst>
      <p:ext uri="{BB962C8B-B14F-4D97-AF65-F5344CB8AC3E}">
        <p14:creationId xmlns:p14="http://schemas.microsoft.com/office/powerpoint/2010/main" val="2103615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2026-10-19T06:11:54.4960000Z</dcterms:created>
  <dcterms:modified xsi:type="dcterms:W3CDTF">2026-10-19T06:11:54.4960000Z</dcterms:modified>
</coreProperties>
</file>